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unnel Sans Bold" panose="020B0604020202020204" charset="0"/>
      <p:regular r:id="rId13"/>
    </p:embeddedFont>
    <p:embeddedFont>
      <p:font typeface="Reddit Sans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eddit Sans SemiBold" panose="020B0604020202020204" charset="0"/>
      <p:regular r:id="rId19"/>
    </p:embeddedFont>
    <p:embeddedFont>
      <p:font typeface="Reddit Sans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A44"/>
    <a:srgbClr val="0C2D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348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 et bienvenue à cette soutenance de cadrage et de réalisation du projet MédiRDV pour la Clinique Les Baobabs à Dakar.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Soulignons les trois points de friction majeurs : 48 000 consultations, 3 % de collisions d'agendas et 14 % d'absentéisme non anticipé.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cibles chiffrées constituent le contrat de résultat du projet MédiRDV vis-à-vis de la direction de la clinique.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rôle a une vue adaptée. Les limites de périmètre évitent l'effet tunnel et garantissent une livraison robuste.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règle RG-08 est centrale : elle alerte dès 3 absences récentes sans jamais refuser le patient, permettant un accompagnement humain.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jeu de données propre est le socle de toute la suite logicielle, garantissant qu'aucune anomalie historique ne fausse les plannings.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stack moderne, légère et robuste : FastAPI pour les performances, MySQL pour la pérennité, Streamlit pour l'adoption rapide.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serveur est garant de la cohérence : même en cas de requêtes concurrentes, les règles RG-01 et RG-02 bloquent tout conflit.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100 % de réussite sur les tests unitaires et d'intégration couvrant l'ensemble des règles critiques.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vous remercie pour votre attention et me tiens à votre disposition pour vos questions et la validation de la recette.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C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C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A44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0F4A44"/>
          </a:solidFill>
          <a:ln/>
        </p:spPr>
      </p:sp>
      <p:sp>
        <p:nvSpPr>
          <p:cNvPr id="3" name="Shape 1"/>
          <p:cNvSpPr/>
          <p:nvPr/>
        </p:nvSpPr>
        <p:spPr>
          <a:xfrm>
            <a:off x="711182" y="660400"/>
            <a:ext cx="3703743" cy="270173"/>
          </a:xfrm>
          <a:prstGeom prst="roundRect">
            <a:avLst>
              <a:gd name="adj" fmla="val 22112"/>
            </a:avLst>
          </a:prstGeom>
          <a:solidFill>
            <a:srgbClr val="4D3B00"/>
          </a:solidFill>
          <a:ln/>
        </p:spPr>
      </p:sp>
      <p:sp>
        <p:nvSpPr>
          <p:cNvPr id="4" name="Text 2"/>
          <p:cNvSpPr/>
          <p:nvPr/>
        </p:nvSpPr>
        <p:spPr>
          <a:xfrm>
            <a:off x="817840" y="720214"/>
            <a:ext cx="410001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SOUTENANCE LISD3 · SCIENCES DES DONNÉES &amp;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1182" y="3837214"/>
            <a:ext cx="599425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Projet MédiRDV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11182" y="4618878"/>
            <a:ext cx="599425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Plateforme de Gestion et d'Analyse Médicale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1182" y="5083175"/>
            <a:ext cx="59942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Cadrage, conception et mise en œuvre technique.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Client :</a:t>
            </a: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Clinique Les Baobabs (Dakar, Sénégal)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182" y="6022975"/>
            <a:ext cx="660383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YAYE DIEYNABA SENE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93A43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206" y="2726432"/>
            <a:ext cx="3555911" cy="10272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67413" y="3931444"/>
            <a:ext cx="457188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Clinique Les Baobabs · Dakar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D54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DIAGNOSTIC INITIAL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28322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Un établissement de 48 000 consultations annuelles face à des tensions critiques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897261"/>
            <a:ext cx="2514537" cy="4503539"/>
          </a:xfrm>
          <a:prstGeom prst="roundRect">
            <a:avLst>
              <a:gd name="adj" fmla="val 7273"/>
            </a:avLst>
          </a:prstGeom>
          <a:solidFill>
            <a:srgbClr val="0F4A44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2176661"/>
            <a:ext cx="22605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ACTIVITÉ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3578" y="2543600"/>
            <a:ext cx="200655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63578" y="3255414"/>
            <a:ext cx="20065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Médecins &amp; 9 spécialités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3578" y="3957836"/>
            <a:ext cx="20065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Une patientèle dense et une offre médicale déjà diversifiée.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1897261"/>
            <a:ext cx="2514537" cy="4503539"/>
          </a:xfrm>
          <a:prstGeom prst="roundRect">
            <a:avLst>
              <a:gd name="adj" fmla="val 7273"/>
            </a:avLst>
          </a:prstGeom>
          <a:solidFill>
            <a:srgbClr val="0F4A44"/>
          </a:solidFill>
          <a:ln/>
        </p:spPr>
      </p:sp>
      <p:sp>
        <p:nvSpPr>
          <p:cNvPr id="10" name="Text 8"/>
          <p:cNvSpPr/>
          <p:nvPr/>
        </p:nvSpPr>
        <p:spPr>
          <a:xfrm>
            <a:off x="3682908" y="2176661"/>
            <a:ext cx="22605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RISQUE PATIENT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82908" y="2543600"/>
            <a:ext cx="200655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3 %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682908" y="3255414"/>
            <a:ext cx="20065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Créneaux en double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82908" y="3957836"/>
            <a:ext cx="20065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Conflits de rendez-vous pénalisant patients et praticiens au quotidien.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1897261"/>
            <a:ext cx="2514537" cy="4503539"/>
          </a:xfrm>
          <a:prstGeom prst="roundRect">
            <a:avLst>
              <a:gd name="adj" fmla="val 7273"/>
            </a:avLst>
          </a:prstGeom>
          <a:solidFill>
            <a:srgbClr val="0F4A44"/>
          </a:solidFill>
          <a:ln/>
        </p:spPr>
      </p:sp>
      <p:sp>
        <p:nvSpPr>
          <p:cNvPr id="15" name="Text 13"/>
          <p:cNvSpPr/>
          <p:nvPr/>
        </p:nvSpPr>
        <p:spPr>
          <a:xfrm>
            <a:off x="6502237" y="2176661"/>
            <a:ext cx="22605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PERTE D'EXPLOITATION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2237" y="2543600"/>
            <a:ext cx="200655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14 %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6502237" y="3255414"/>
            <a:ext cx="20065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Absentéisme global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02237" y="3957836"/>
            <a:ext cx="20065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Sans relance automatisée, les rendez-vous manqués désorganisent les soins.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67573" y="1897261"/>
            <a:ext cx="2514537" cy="4503539"/>
          </a:xfrm>
          <a:prstGeom prst="roundRect">
            <a:avLst>
              <a:gd name="adj" fmla="val 7273"/>
            </a:avLst>
          </a:prstGeom>
          <a:solidFill>
            <a:srgbClr val="0F4A44"/>
          </a:solidFill>
          <a:ln/>
        </p:spPr>
      </p:sp>
      <p:sp>
        <p:nvSpPr>
          <p:cNvPr id="20" name="Text 18"/>
          <p:cNvSpPr/>
          <p:nvPr/>
        </p:nvSpPr>
        <p:spPr>
          <a:xfrm>
            <a:off x="9321567" y="2176661"/>
            <a:ext cx="22605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FLUX D'ACCUEIL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21567" y="2543600"/>
            <a:ext cx="200655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Saturé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321567" y="3255414"/>
            <a:ext cx="20065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Lundi &amp; samedi matin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1567" y="3957836"/>
            <a:ext cx="20065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Guichet débordé sans outil consolidé de pilotage pour la direction.</a:t>
            </a:r>
            <a:endParaRPr lang="en-US" sz="1400" dirty="0"/>
          </a:p>
        </p:txBody>
      </p:sp>
      <p:sp>
        <p:nvSpPr>
          <p:cNvPr id="24" name="Rectangle 23"/>
          <p:cNvSpPr/>
          <p:nvPr/>
        </p:nvSpPr>
        <p:spPr>
          <a:xfrm>
            <a:off x="10704640" y="6477614"/>
            <a:ext cx="1487055" cy="338310"/>
          </a:xfrm>
          <a:prstGeom prst="rect">
            <a:avLst/>
          </a:prstGeom>
          <a:solidFill>
            <a:srgbClr val="0C2D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82910"/>
            <a:ext cx="59434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D54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CIBLES À 6 MOIS — APPROXIMATIVEMENT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903233"/>
            <a:ext cx="5486263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Objectifs mesurables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1547416"/>
            <a:ext cx="54862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Le tableau de bord transforme les rendez-vous en décisions opérationnelles.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8786" y="2284016"/>
            <a:ext cx="5486263" cy="1330325"/>
          </a:xfrm>
          <a:prstGeom prst="roundRect">
            <a:avLst>
              <a:gd name="adj" fmla="val 11456"/>
            </a:avLst>
          </a:prstGeom>
          <a:solidFill>
            <a:srgbClr val="0F4A44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536655"/>
            <a:ext cx="1508683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2296063" y="2480119"/>
            <a:ext cx="352039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Conflit de créneau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96063" y="2903141"/>
            <a:ext cx="3520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Élimination complète des doubles réservations par vérification serveur.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8786" y="3766741"/>
            <a:ext cx="5486263" cy="1330325"/>
          </a:xfrm>
          <a:prstGeom prst="roundRect">
            <a:avLst>
              <a:gd name="adj" fmla="val 11456"/>
            </a:avLst>
          </a:prstGeom>
          <a:solidFill>
            <a:srgbClr val="0F4A44"/>
          </a:solidFill>
          <a:ln/>
        </p:spPr>
      </p:sp>
      <p:sp>
        <p:nvSpPr>
          <p:cNvPr id="10" name="Text 8"/>
          <p:cNvSpPr/>
          <p:nvPr/>
        </p:nvSpPr>
        <p:spPr>
          <a:xfrm>
            <a:off x="787380" y="4019380"/>
            <a:ext cx="1508683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11 %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2296063" y="3962844"/>
            <a:ext cx="352039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Taux d'absence cible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96063" y="4385866"/>
            <a:ext cx="3520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Baisse de 14 % à 11 %, soit une réduction ciblée de 20 % de l'absentéisme.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8786" y="5249466"/>
            <a:ext cx="5486263" cy="1330325"/>
          </a:xfrm>
          <a:prstGeom prst="roundRect">
            <a:avLst>
              <a:gd name="adj" fmla="val 11456"/>
            </a:avLst>
          </a:prstGeom>
          <a:solidFill>
            <a:srgbClr val="0F4A44"/>
          </a:solidFill>
          <a:ln/>
        </p:spPr>
      </p:sp>
      <p:sp>
        <p:nvSpPr>
          <p:cNvPr id="14" name="Text 12"/>
          <p:cNvSpPr/>
          <p:nvPr/>
        </p:nvSpPr>
        <p:spPr>
          <a:xfrm>
            <a:off x="787380" y="5502105"/>
            <a:ext cx="1508683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70 %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2296063" y="5445569"/>
            <a:ext cx="352039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Occupation en semaine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96063" y="5868591"/>
            <a:ext cx="3520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Progression de 58 % à 70 % sur les journées de mardi à jeudi.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432" y="2491184"/>
            <a:ext cx="4825879" cy="154850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02237" y="4166691"/>
            <a:ext cx="56386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5B1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Preuve : Tableau de bord décisionnel MédiRDV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32482"/>
            <a:ext cx="78230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D54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PÉRIMÈTRE FONCTIONNEL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652804"/>
            <a:ext cx="7518212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Un périmètre ciblé, construit pour chaque rôle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04792" y="1867046"/>
            <a:ext cx="75182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Agents d’accueil (8)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4792" y="2290068"/>
            <a:ext cx="751821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Trouver vite un créneau et gérer les fiches patients.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4792" y="2930671"/>
            <a:ext cx="75182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Médecins (30)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4792" y="3353693"/>
            <a:ext cx="751821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Consulter l’agenda et marquer honoré / absent.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4792" y="3994296"/>
            <a:ext cx="75182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Direction &amp; opérations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4792" y="4417318"/>
            <a:ext cx="751821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Suivre les indicateurs, analyser la demande et piloter les effectifs.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4792" y="5014218"/>
            <a:ext cx="7518212" cy="1511300"/>
          </a:xfrm>
          <a:prstGeom prst="roundRect">
            <a:avLst>
              <a:gd name="adj" fmla="val 4941"/>
            </a:avLst>
          </a:prstGeom>
          <a:solidFill>
            <a:srgbClr val="80620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88" y="5277743"/>
            <a:ext cx="222244" cy="177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2628" y="5236468"/>
            <a:ext cx="676258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Inclus :</a:t>
            </a: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référentiels patients, médecins et spécialités ; plannings ; prise, modification et annulation de rendez-vous ; tableau de bord analytique ; API sécurisée. </a:t>
            </a:r>
            <a:r>
              <a:rPr lang="en-US" sz="1400" b="1" dirty="0">
                <a:solidFill>
                  <a:srgbClr val="FFFFF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Hors périmètre :</a:t>
            </a: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dossier médical patient, facturation en ligne, application mobile native et envois SMS réels — le module SMS reste simulé.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193" y="2187575"/>
            <a:ext cx="3080764" cy="19049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80193" y="4270276"/>
            <a:ext cx="36575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5B1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Preuve : Cartographie des rôles et interfaces dédiées dans le site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04792" y="2728218"/>
            <a:ext cx="7518212" cy="12700"/>
          </a:xfrm>
          <a:prstGeom prst="rect">
            <a:avLst/>
          </a:prstGeom>
          <a:solidFill>
            <a:srgbClr val="FFD54A"/>
          </a:solidFill>
          <a:ln/>
        </p:spPr>
      </p:sp>
      <p:sp>
        <p:nvSpPr>
          <p:cNvPr id="16" name="Shape 12"/>
          <p:cNvSpPr/>
          <p:nvPr/>
        </p:nvSpPr>
        <p:spPr>
          <a:xfrm>
            <a:off x="304792" y="3791843"/>
            <a:ext cx="7518212" cy="12700"/>
          </a:xfrm>
          <a:prstGeom prst="rect">
            <a:avLst/>
          </a:prstGeom>
          <a:solidFill>
            <a:srgbClr val="FFD54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63960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D54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MÉTHODE DE CADRAGE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684283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Le cadrage a transformé les irritants en règles testables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328466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Le formulaire de prise de rendez-vous et la gestion des statuts matérialisent ces choix métier.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798366"/>
            <a:ext cx="2514537" cy="2720975"/>
          </a:xfrm>
          <a:prstGeom prst="roundRect">
            <a:avLst>
              <a:gd name="adj" fmla="val 7273"/>
            </a:avLst>
          </a:prstGeom>
          <a:solidFill>
            <a:srgbClr val="0F4A44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077766"/>
            <a:ext cx="79373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8179" y="3326705"/>
            <a:ext cx="2057349" cy="19050"/>
          </a:xfrm>
          <a:prstGeom prst="rect">
            <a:avLst/>
          </a:prstGeom>
          <a:solidFill>
            <a:srgbClr val="FFD54A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470719"/>
            <a:ext cx="205734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Lancement &amp; Métier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179" y="4173141"/>
            <a:ext cx="205734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Aligner la direction des opérations sur les flux réels et les usages terrain.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8914" y="2798366"/>
            <a:ext cx="2514537" cy="2720975"/>
          </a:xfrm>
          <a:prstGeom prst="roundRect">
            <a:avLst>
              <a:gd name="adj" fmla="val 7273"/>
            </a:avLst>
          </a:prstGeom>
          <a:solidFill>
            <a:srgbClr val="0F4A4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509" y="3077766"/>
            <a:ext cx="8274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509" y="3326705"/>
            <a:ext cx="2057349" cy="19050"/>
          </a:xfrm>
          <a:prstGeom prst="rect">
            <a:avLst/>
          </a:prstGeom>
          <a:solidFill>
            <a:srgbClr val="FFD54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509" y="3470719"/>
            <a:ext cx="205734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Ergonomie Multi-rôles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509" y="4173141"/>
            <a:ext cx="205734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Valider une interface réactive adaptée aux écrans d'accueil et tablettes mobiles.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8244" y="2798366"/>
            <a:ext cx="2514537" cy="2720975"/>
          </a:xfrm>
          <a:prstGeom prst="roundRect">
            <a:avLst>
              <a:gd name="adj" fmla="val 7273"/>
            </a:avLst>
          </a:prstGeom>
          <a:solidFill>
            <a:srgbClr val="0F4A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76838" y="3077766"/>
            <a:ext cx="82696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76838" y="3326705"/>
            <a:ext cx="2057349" cy="19050"/>
          </a:xfrm>
          <a:prstGeom prst="rect">
            <a:avLst/>
          </a:prstGeom>
          <a:solidFill>
            <a:srgbClr val="FFD5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6838" y="3470719"/>
            <a:ext cx="205734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Règle RG-08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76838" y="3893741"/>
            <a:ext cx="205734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Alerter immédiatement sur tout patient totalisant 3 absences en 6 mois.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67573" y="2798366"/>
            <a:ext cx="2514537" cy="2720975"/>
          </a:xfrm>
          <a:prstGeom prst="roundRect">
            <a:avLst>
              <a:gd name="adj" fmla="val 7273"/>
            </a:avLst>
          </a:prstGeom>
          <a:solidFill>
            <a:srgbClr val="0F4A44"/>
          </a:solidFill>
          <a:ln/>
        </p:spPr>
      </p:sp>
      <p:sp>
        <p:nvSpPr>
          <p:cNvPr id="21" name="Text 19"/>
          <p:cNvSpPr/>
          <p:nvPr/>
        </p:nvSpPr>
        <p:spPr>
          <a:xfrm>
            <a:off x="9296167" y="3077766"/>
            <a:ext cx="83222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96167" y="3326705"/>
            <a:ext cx="2057349" cy="19050"/>
          </a:xfrm>
          <a:prstGeom prst="rect">
            <a:avLst/>
          </a:prstGeom>
          <a:solidFill>
            <a:srgbClr val="FFD54A"/>
          </a:solidFill>
          <a:ln/>
        </p:spPr>
      </p:sp>
      <p:sp>
        <p:nvSpPr>
          <p:cNvPr id="23" name="Text 21"/>
          <p:cNvSpPr/>
          <p:nvPr/>
        </p:nvSpPr>
        <p:spPr>
          <a:xfrm>
            <a:off x="9296167" y="3470719"/>
            <a:ext cx="205734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Score d'Absence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96167" y="3893741"/>
            <a:ext cx="205734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Prioriser les rappels téléphoniques préventifs sans jamais bloquer l'accès aux soins.</a:t>
            </a:r>
            <a:endParaRPr lang="en-US" sz="1400" dirty="0"/>
          </a:p>
        </p:txBody>
      </p:sp>
      <p:sp>
        <p:nvSpPr>
          <p:cNvPr id="25" name="Rectangle 24"/>
          <p:cNvSpPr/>
          <p:nvPr/>
        </p:nvSpPr>
        <p:spPr>
          <a:xfrm>
            <a:off x="10704640" y="6477614"/>
            <a:ext cx="1487055" cy="338310"/>
          </a:xfrm>
          <a:prstGeom prst="rect">
            <a:avLst/>
          </a:prstGeom>
          <a:solidFill>
            <a:srgbClr val="0C2D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700285"/>
            <a:ext cx="5892653" cy="255091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987" y="4789190"/>
            <a:ext cx="5892653" cy="977900"/>
          </a:xfrm>
          <a:prstGeom prst="roundRect">
            <a:avLst>
              <a:gd name="adj" fmla="val 7636"/>
            </a:avLst>
          </a:prstGeom>
          <a:solidFill>
            <a:srgbClr val="183A13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3" y="5052715"/>
            <a:ext cx="222244" cy="177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85823" y="5011440"/>
            <a:ext cx="513702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Livrable :</a:t>
            </a: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</a:t>
            </a:r>
            <a:r>
              <a:rPr lang="en-US" sz="1400" dirty="0">
                <a:solidFill>
                  <a:srgbClr val="FFD54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rendez_vous_medirdv_propre.csv</a:t>
            </a: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et rapport de qualité des données.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959426" y="1202730"/>
            <a:ext cx="52322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D54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INGÉNIERIE DE LA DONNÉE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959426" y="1523052"/>
            <a:ext cx="4673483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La donnée brute devient une base fiable pour décider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6959426" y="2988171"/>
            <a:ext cx="46734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2D3D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Audit :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vérifier la volumétrie, les valeurs manquantes, les téléphones et les dates incohérentes.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959426" y="3978771"/>
            <a:ext cx="46734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2D3D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Normalisation :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unifier les statuts pour éviter les troncatures et les ambiguïtés en base.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59426" y="4969371"/>
            <a:ext cx="46734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2D3D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Intégrité :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résoudre les clés dupliquées et les contraintes référentielles.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959426" y="3743821"/>
            <a:ext cx="4673483" cy="12700"/>
          </a:xfrm>
          <a:prstGeom prst="rect">
            <a:avLst/>
          </a:prstGeom>
          <a:solidFill>
            <a:srgbClr val="FFD54A"/>
          </a:solidFill>
          <a:ln/>
        </p:spPr>
      </p:sp>
      <p:sp>
        <p:nvSpPr>
          <p:cNvPr id="12" name="Shape 8"/>
          <p:cNvSpPr/>
          <p:nvPr/>
        </p:nvSpPr>
        <p:spPr>
          <a:xfrm>
            <a:off x="6959426" y="4734421"/>
            <a:ext cx="4673483" cy="12700"/>
          </a:xfrm>
          <a:prstGeom prst="rect">
            <a:avLst/>
          </a:prstGeom>
          <a:solidFill>
            <a:srgbClr val="FFD54A"/>
          </a:solidFill>
          <a:ln/>
        </p:spPr>
      </p:sp>
      <p:sp>
        <p:nvSpPr>
          <p:cNvPr id="13" name="Rectangle 12"/>
          <p:cNvSpPr/>
          <p:nvPr/>
        </p:nvSpPr>
        <p:spPr>
          <a:xfrm>
            <a:off x="10704640" y="6477614"/>
            <a:ext cx="1487055" cy="338310"/>
          </a:xfrm>
          <a:prstGeom prst="rect">
            <a:avLst/>
          </a:prstGeom>
          <a:solidFill>
            <a:srgbClr val="0C2D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D54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ARCHITECTURE TECHNIQUE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0292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Une architecture simple à maintenir, prête à évoluer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4710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Le modèle relationnel s’articule autour de </a:t>
            </a:r>
            <a:r>
              <a:rPr lang="en-US" sz="1400" i="1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specialite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, </a:t>
            </a:r>
            <a:r>
              <a:rPr lang="en-US" sz="1400" i="1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medecin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, </a:t>
            </a:r>
            <a:r>
              <a:rPr lang="en-US" sz="1400" i="1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patient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et </a:t>
            </a:r>
            <a:r>
              <a:rPr lang="en-US" sz="1400" i="1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rendez_vous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, avec des index optimisés sur les dates et les statuts.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17005"/>
            <a:ext cx="5333867" cy="2089448"/>
          </a:xfrm>
          <a:prstGeom prst="roundRect">
            <a:avLst>
              <a:gd name="adj" fmla="val 8752"/>
            </a:avLst>
          </a:prstGeom>
          <a:solidFill>
            <a:srgbClr val="0F4A44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196405"/>
            <a:ext cx="51052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DONNÉES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8179" y="2563345"/>
            <a:ext cx="487667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MySQL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38179" y="3275159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SQLAlchemy ORM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48244" y="1917005"/>
            <a:ext cx="5333867" cy="2089448"/>
          </a:xfrm>
          <a:prstGeom prst="roundRect">
            <a:avLst>
              <a:gd name="adj" fmla="val 8752"/>
            </a:avLst>
          </a:prstGeom>
          <a:solidFill>
            <a:srgbClr val="0F4A44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2196405"/>
            <a:ext cx="51052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76838" y="2563345"/>
            <a:ext cx="487667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FastAPI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476838" y="3348930"/>
            <a:ext cx="51052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Documentation OpenAPI / Swagger intégrée.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5" y="4311253"/>
            <a:ext cx="5333867" cy="2089547"/>
          </a:xfrm>
          <a:prstGeom prst="roundRect">
            <a:avLst>
              <a:gd name="adj" fmla="val 8752"/>
            </a:avLst>
          </a:prstGeom>
          <a:solidFill>
            <a:srgbClr val="0F4A44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" y="4590653"/>
            <a:ext cx="51052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8179" y="4957592"/>
            <a:ext cx="487667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Streamlit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38179" y="5743178"/>
            <a:ext cx="51052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Responsive, aux couleurs vert et marron de la clinique.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8244" y="4311253"/>
            <a:ext cx="5333867" cy="2089547"/>
          </a:xfrm>
          <a:prstGeom prst="roundRect">
            <a:avLst>
              <a:gd name="adj" fmla="val 8752"/>
            </a:avLst>
          </a:prstGeom>
          <a:solidFill>
            <a:srgbClr val="0F4A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6838" y="4590653"/>
            <a:ext cx="51052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QUALITÉ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76838" y="4957592"/>
            <a:ext cx="487667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D54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Pytest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6476838" y="5743178"/>
            <a:ext cx="51052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Pour automatiser les contrôles.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10704640" y="6477614"/>
            <a:ext cx="1487055" cy="338310"/>
          </a:xfrm>
          <a:prstGeom prst="rect">
            <a:avLst/>
          </a:prstGeom>
          <a:solidFill>
            <a:srgbClr val="0C2D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04230"/>
            <a:ext cx="61466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D54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LOGIQUE MÉTIER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824552"/>
            <a:ext cx="5892653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Implémentation Métier : Règles de Gestion et Respect des Contraintes Serveur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2362696"/>
            <a:ext cx="589265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La vue patient et les filtres de rendez-vous rendent les états immédiatement lisibles.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58786" y="3066799"/>
            <a:ext cx="589265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RG-01 &amp; RG-02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58786" y="3489821"/>
            <a:ext cx="589265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Interdire les créneaux chevauchants pour un même médecin ou un même patient.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8786" y="4346324"/>
            <a:ext cx="589265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RG-09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8786" y="4769346"/>
            <a:ext cx="589265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Calculer dynamiquement le taux d’absence : Absents / (Honorés + Absents).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8786" y="5625849"/>
            <a:ext cx="589265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Traçabilité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8786" y="6048871"/>
            <a:ext cx="589265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Journaliser les actions et suivre les états Planifié, Confirmé, Honoré, Absent, Annulé.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426" y="1895971"/>
            <a:ext cx="4698882" cy="26882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05432" y="4762004"/>
            <a:ext cx="53846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5B1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Preuve : Exécution serveur et contrôle des règles</a:t>
            </a:r>
            <a:endParaRPr lang="en-US" sz="1050" dirty="0"/>
          </a:p>
        </p:txBody>
      </p:sp>
      <p:sp>
        <p:nvSpPr>
          <p:cNvPr id="13" name="Rectangle 12"/>
          <p:cNvSpPr/>
          <p:nvPr/>
        </p:nvSpPr>
        <p:spPr>
          <a:xfrm>
            <a:off x="10704640" y="6477614"/>
            <a:ext cx="1487055" cy="338310"/>
          </a:xfrm>
          <a:prstGeom prst="rect">
            <a:avLst/>
          </a:prstGeom>
          <a:solidFill>
            <a:srgbClr val="0C2D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822"/>
            <a:ext cx="3159145" cy="2234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4F1E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Les tests ferment la boucle entre code et confiance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3069927"/>
            <a:ext cx="3159145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C2D3D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Stratégie :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tester l’intégrité de l’API et la robustesse des endpoints avec pytest.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C2D3D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Vérifications :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connexions ORM stables et réponses JSON conformes.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4930477"/>
            <a:ext cx="3159145" cy="977900"/>
          </a:xfrm>
          <a:prstGeom prst="roundRect">
            <a:avLst>
              <a:gd name="adj" fmla="val 7636"/>
            </a:avLst>
          </a:prstGeom>
          <a:solidFill>
            <a:srgbClr val="183A1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5194002"/>
            <a:ext cx="222244" cy="17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7420" y="5152727"/>
            <a:ext cx="24035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Résultat :</a:t>
            </a: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6/6 tests passés sans erreur.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585" y="6111577"/>
            <a:ext cx="31591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2D3D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Prochaine étape :</a:t>
            </a:r>
            <a:r>
              <a:rPr lang="en-US" sz="1400" dirty="0">
                <a:solidFill>
                  <a:srgbClr val="C2D3D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recette puis déploiement en production.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593" y="1619250"/>
            <a:ext cx="6289518" cy="3619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704640" y="6477614"/>
            <a:ext cx="1487055" cy="338310"/>
          </a:xfrm>
          <a:prstGeom prst="rect">
            <a:avLst/>
          </a:prstGeom>
          <a:solidFill>
            <a:srgbClr val="0C2D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03623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BILAN &amp; FEUILLE DE ROUTE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23945"/>
            <a:ext cx="11023324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Conclusion, Perspectives et Recette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68128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La décision attendue : valider la recette et préparer l'adoption terrain.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0" y="2859531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Bilan livré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80" y="3282553"/>
            <a:ext cx="4952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Cahier des charges respecté : solution ergonomique, sécurisée et clé en main.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76838" y="2859531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Déploiement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76838" y="3282553"/>
            <a:ext cx="4952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Installation immédiate sur l'infrastructure de production de la clinique.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780" y="4545456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Formation (2h)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780" y="4968478"/>
            <a:ext cx="4952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Accompagnement dédié des 8 agents d'accueil et des équipes médicales.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76838" y="4545456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Perspectives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76838" y="4968478"/>
            <a:ext cx="4952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Portail patient autonome en ligne, suivi du module de téléconsultation.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10704640" y="6477614"/>
            <a:ext cx="1487055" cy="338310"/>
          </a:xfrm>
          <a:prstGeom prst="rect">
            <a:avLst/>
          </a:prstGeom>
          <a:solidFill>
            <a:srgbClr val="0F4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983</Words>
  <Application>Microsoft Office PowerPoint</Application>
  <PresentationFormat>Grand écran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Funnel Sans Bold</vt:lpstr>
      <vt:lpstr>Reddit Sans Bold</vt:lpstr>
      <vt:lpstr>Calibri</vt:lpstr>
      <vt:lpstr>Reddit Sans SemiBold</vt:lpstr>
      <vt:lpstr>Reddit Sans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lastModifiedBy>User</cp:lastModifiedBy>
  <cp:revision>2</cp:revision>
  <dcterms:created xsi:type="dcterms:W3CDTF">2026-10-11T15:59:42Z</dcterms:created>
  <dcterms:modified xsi:type="dcterms:W3CDTF">2026-10-11T16:01:53Z</dcterms:modified>
</cp:coreProperties>
</file>